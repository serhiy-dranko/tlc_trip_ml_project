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 Bold Italics" charset="1" panose="020B0803030501040103"/>
      <p:regular r:id="rId17"/>
    </p:embeddedFont>
    <p:embeddedFont>
      <p:font typeface="Helvetica World Bold Italics" charset="1" panose="020B0800040000090004"/>
      <p:regular r:id="rId18"/>
    </p:embeddedFont>
    <p:embeddedFont>
      <p:font typeface="Canva Sans" charset="1" panose="020B0503030501040103"/>
      <p:regular r:id="rId19"/>
    </p:embeddedFont>
    <p:embeddedFont>
      <p:font typeface="Courier New Bold" charset="1" panose="02070609020205020404"/>
      <p:regular r:id="rId20"/>
    </p:embeddedFont>
    <p:embeddedFont>
      <p:font typeface="Canva Sans Italic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268" y="0"/>
            <a:ext cx="18390268" cy="10287000"/>
          </a:xfrm>
          <a:custGeom>
            <a:avLst/>
            <a:gdLst/>
            <a:ahLst/>
            <a:cxnLst/>
            <a:rect r="r" b="b" t="t" l="l"/>
            <a:pathLst>
              <a:path h="10287000" w="18390268">
                <a:moveTo>
                  <a:pt x="0" y="0"/>
                </a:moveTo>
                <a:lnTo>
                  <a:pt x="18390268" y="0"/>
                </a:lnTo>
                <a:lnTo>
                  <a:pt x="183902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77148" y="2915297"/>
            <a:ext cx="8164636" cy="222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Forecasting</a:t>
            </a:r>
            <a:r>
              <a:rPr lang="en-US" sz="6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NYC </a:t>
            </a:r>
          </a:p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taxi demand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7148" y="5212186"/>
            <a:ext cx="4776873" cy="94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 i="true">
                <a:solidFill>
                  <a:srgbClr val="FF914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How many pickups will each</a:t>
            </a:r>
          </a:p>
          <a:p>
            <a:pPr algn="l">
              <a:lnSpc>
                <a:spcPts val="3780"/>
              </a:lnSpc>
            </a:pPr>
            <a:r>
              <a:rPr lang="en-US" b="true" sz="2700" i="true">
                <a:solidFill>
                  <a:srgbClr val="FF914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zone get in each hour?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11240" y="9321925"/>
            <a:ext cx="11514987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i="true">
                <a:solidFill>
                  <a:srgbClr val="38B6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Serhiy Dranko                                                                                                                09.10.2026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50164" y="981075"/>
            <a:ext cx="4127302" cy="40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 i="true">
                <a:solidFill>
                  <a:srgbClr val="38B6FF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Week 5 · NYC taxi data pipeline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8065"/>
            <a:ext cx="18288000" cy="10663131"/>
          </a:xfrm>
          <a:custGeom>
            <a:avLst/>
            <a:gdLst/>
            <a:ahLst/>
            <a:cxnLst/>
            <a:rect r="r" b="b" t="t" l="l"/>
            <a:pathLst>
              <a:path h="10663131" w="18288000">
                <a:moveTo>
                  <a:pt x="0" y="0"/>
                </a:moveTo>
                <a:lnTo>
                  <a:pt x="18288000" y="0"/>
                </a:lnTo>
                <a:lnTo>
                  <a:pt x="18288000" y="10663130"/>
                </a:lnTo>
                <a:lnTo>
                  <a:pt x="0" y="10663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1804" y="801921"/>
            <a:ext cx="2245072" cy="68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3"/>
              </a:lnSpc>
            </a:pPr>
            <a:r>
              <a:rPr lang="en-US" b="true" sz="4024" i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The data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4554" y="2154941"/>
            <a:ext cx="5005099" cy="2865887"/>
            <a:chOff x="0" y="0"/>
            <a:chExt cx="1318215" cy="754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8215" cy="754802"/>
            </a:xfrm>
            <a:custGeom>
              <a:avLst/>
              <a:gdLst/>
              <a:ahLst/>
              <a:cxnLst/>
              <a:rect r="r" b="b" t="t" l="l"/>
              <a:pathLst>
                <a:path h="754802" w="1318215">
                  <a:moveTo>
                    <a:pt x="26296" y="0"/>
                  </a:moveTo>
                  <a:lnTo>
                    <a:pt x="1291920" y="0"/>
                  </a:lnTo>
                  <a:cubicBezTo>
                    <a:pt x="1306442" y="0"/>
                    <a:pt x="1318215" y="11773"/>
                    <a:pt x="1318215" y="26296"/>
                  </a:cubicBezTo>
                  <a:lnTo>
                    <a:pt x="1318215" y="728506"/>
                  </a:lnTo>
                  <a:cubicBezTo>
                    <a:pt x="1318215" y="743029"/>
                    <a:pt x="1306442" y="754802"/>
                    <a:pt x="1291920" y="754802"/>
                  </a:cubicBezTo>
                  <a:lnTo>
                    <a:pt x="26296" y="754802"/>
                  </a:lnTo>
                  <a:cubicBezTo>
                    <a:pt x="19322" y="754802"/>
                    <a:pt x="12633" y="752031"/>
                    <a:pt x="7702" y="747100"/>
                  </a:cubicBezTo>
                  <a:cubicBezTo>
                    <a:pt x="2770" y="742168"/>
                    <a:pt x="0" y="735480"/>
                    <a:pt x="0" y="728506"/>
                  </a:cubicBezTo>
                  <a:lnTo>
                    <a:pt x="0" y="26296"/>
                  </a:lnTo>
                  <a:cubicBezTo>
                    <a:pt x="0" y="11773"/>
                    <a:pt x="11773" y="0"/>
                    <a:pt x="26296" y="0"/>
                  </a:cubicBezTo>
                  <a:close/>
                </a:path>
              </a:pathLst>
            </a:custGeom>
            <a:solidFill>
              <a:srgbClr val="3D6C8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18215" cy="802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2172" y="2154941"/>
            <a:ext cx="5005099" cy="2865887"/>
            <a:chOff x="0" y="0"/>
            <a:chExt cx="1318215" cy="7548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8215" cy="754802"/>
            </a:xfrm>
            <a:custGeom>
              <a:avLst/>
              <a:gdLst/>
              <a:ahLst/>
              <a:cxnLst/>
              <a:rect r="r" b="b" t="t" l="l"/>
              <a:pathLst>
                <a:path h="754802" w="1318215">
                  <a:moveTo>
                    <a:pt x="26296" y="0"/>
                  </a:moveTo>
                  <a:lnTo>
                    <a:pt x="1291920" y="0"/>
                  </a:lnTo>
                  <a:cubicBezTo>
                    <a:pt x="1306442" y="0"/>
                    <a:pt x="1318215" y="11773"/>
                    <a:pt x="1318215" y="26296"/>
                  </a:cubicBezTo>
                  <a:lnTo>
                    <a:pt x="1318215" y="728506"/>
                  </a:lnTo>
                  <a:cubicBezTo>
                    <a:pt x="1318215" y="743029"/>
                    <a:pt x="1306442" y="754802"/>
                    <a:pt x="1291920" y="754802"/>
                  </a:cubicBezTo>
                  <a:lnTo>
                    <a:pt x="26296" y="754802"/>
                  </a:lnTo>
                  <a:cubicBezTo>
                    <a:pt x="19322" y="754802"/>
                    <a:pt x="12633" y="752031"/>
                    <a:pt x="7702" y="747100"/>
                  </a:cubicBezTo>
                  <a:cubicBezTo>
                    <a:pt x="2770" y="742168"/>
                    <a:pt x="0" y="735480"/>
                    <a:pt x="0" y="728506"/>
                  </a:cubicBezTo>
                  <a:lnTo>
                    <a:pt x="0" y="26296"/>
                  </a:lnTo>
                  <a:cubicBezTo>
                    <a:pt x="0" y="11773"/>
                    <a:pt x="11773" y="0"/>
                    <a:pt x="26296" y="0"/>
                  </a:cubicBezTo>
                  <a:close/>
                </a:path>
              </a:pathLst>
            </a:custGeom>
            <a:solidFill>
              <a:srgbClr val="3D6C8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18215" cy="802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50196" y="2154941"/>
            <a:ext cx="5005099" cy="2865887"/>
            <a:chOff x="0" y="0"/>
            <a:chExt cx="1318215" cy="7548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8215" cy="754802"/>
            </a:xfrm>
            <a:custGeom>
              <a:avLst/>
              <a:gdLst/>
              <a:ahLst/>
              <a:cxnLst/>
              <a:rect r="r" b="b" t="t" l="l"/>
              <a:pathLst>
                <a:path h="754802" w="1318215">
                  <a:moveTo>
                    <a:pt x="26296" y="0"/>
                  </a:moveTo>
                  <a:lnTo>
                    <a:pt x="1291920" y="0"/>
                  </a:lnTo>
                  <a:cubicBezTo>
                    <a:pt x="1306442" y="0"/>
                    <a:pt x="1318215" y="11773"/>
                    <a:pt x="1318215" y="26296"/>
                  </a:cubicBezTo>
                  <a:lnTo>
                    <a:pt x="1318215" y="728506"/>
                  </a:lnTo>
                  <a:cubicBezTo>
                    <a:pt x="1318215" y="743029"/>
                    <a:pt x="1306442" y="754802"/>
                    <a:pt x="1291920" y="754802"/>
                  </a:cubicBezTo>
                  <a:lnTo>
                    <a:pt x="26296" y="754802"/>
                  </a:lnTo>
                  <a:cubicBezTo>
                    <a:pt x="19322" y="754802"/>
                    <a:pt x="12633" y="752031"/>
                    <a:pt x="7702" y="747100"/>
                  </a:cubicBezTo>
                  <a:cubicBezTo>
                    <a:pt x="2770" y="742168"/>
                    <a:pt x="0" y="735480"/>
                    <a:pt x="0" y="728506"/>
                  </a:cubicBezTo>
                  <a:lnTo>
                    <a:pt x="0" y="26296"/>
                  </a:lnTo>
                  <a:cubicBezTo>
                    <a:pt x="0" y="11773"/>
                    <a:pt x="11773" y="0"/>
                    <a:pt x="26296" y="0"/>
                  </a:cubicBezTo>
                  <a:close/>
                </a:path>
              </a:pathLst>
            </a:custGeom>
            <a:solidFill>
              <a:srgbClr val="3D6C8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18215" cy="802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84340" y="2431808"/>
            <a:ext cx="2693807" cy="115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b="true" sz="671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23.5 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78867" y="2431808"/>
            <a:ext cx="2651710" cy="115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7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1.15 </a:t>
            </a:r>
            <a:r>
              <a:rPr lang="en-US" b="true" sz="671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53648" y="2431808"/>
            <a:ext cx="3936141" cy="115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7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 months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0246" y="3715530"/>
            <a:ext cx="4361995" cy="115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cleane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trips: 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yellow, green and FHV 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a pickup zone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23927" y="3910792"/>
            <a:ext cx="4361995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zone-hour rows: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265 zones × 4,344 hours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0721" y="3910792"/>
            <a:ext cx="4361995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- Jun 2026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split by time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5337" y="6520353"/>
            <a:ext cx="4863533" cy="1268867"/>
            <a:chOff x="0" y="0"/>
            <a:chExt cx="1280931" cy="3341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931" cy="334187"/>
            </a:xfrm>
            <a:custGeom>
              <a:avLst/>
              <a:gdLst/>
              <a:ahLst/>
              <a:cxnLst/>
              <a:rect r="r" b="b" t="t" l="l"/>
              <a:pathLst>
                <a:path h="334187" w="1280931">
                  <a:moveTo>
                    <a:pt x="27061" y="0"/>
                  </a:moveTo>
                  <a:lnTo>
                    <a:pt x="1253869" y="0"/>
                  </a:lnTo>
                  <a:cubicBezTo>
                    <a:pt x="1261047" y="0"/>
                    <a:pt x="1267930" y="2851"/>
                    <a:pt x="1273005" y="7926"/>
                  </a:cubicBezTo>
                  <a:cubicBezTo>
                    <a:pt x="1278080" y="13001"/>
                    <a:pt x="1280931" y="19884"/>
                    <a:pt x="1280931" y="27061"/>
                  </a:cubicBezTo>
                  <a:lnTo>
                    <a:pt x="1280931" y="307126"/>
                  </a:lnTo>
                  <a:cubicBezTo>
                    <a:pt x="1280931" y="322071"/>
                    <a:pt x="1268815" y="334187"/>
                    <a:pt x="1253869" y="334187"/>
                  </a:cubicBezTo>
                  <a:lnTo>
                    <a:pt x="27061" y="334187"/>
                  </a:lnTo>
                  <a:cubicBezTo>
                    <a:pt x="19884" y="334187"/>
                    <a:pt x="13001" y="331336"/>
                    <a:pt x="7926" y="326261"/>
                  </a:cubicBezTo>
                  <a:cubicBezTo>
                    <a:pt x="2851" y="321186"/>
                    <a:pt x="0" y="314303"/>
                    <a:pt x="0" y="307126"/>
                  </a:cubicBezTo>
                  <a:lnTo>
                    <a:pt x="0" y="27061"/>
                  </a:lnTo>
                  <a:cubicBezTo>
                    <a:pt x="0" y="19884"/>
                    <a:pt x="2851" y="13001"/>
                    <a:pt x="7926" y="7926"/>
                  </a:cubicBezTo>
                  <a:cubicBezTo>
                    <a:pt x="13001" y="2851"/>
                    <a:pt x="19884" y="0"/>
                    <a:pt x="27061" y="0"/>
                  </a:cubicBezTo>
                  <a:close/>
                </a:path>
              </a:pathLst>
            </a:custGeom>
            <a:solidFill>
              <a:srgbClr val="08162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80931" cy="3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02172" y="6520353"/>
            <a:ext cx="4863533" cy="1268867"/>
            <a:chOff x="0" y="0"/>
            <a:chExt cx="1280931" cy="3341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931" cy="334187"/>
            </a:xfrm>
            <a:custGeom>
              <a:avLst/>
              <a:gdLst/>
              <a:ahLst/>
              <a:cxnLst/>
              <a:rect r="r" b="b" t="t" l="l"/>
              <a:pathLst>
                <a:path h="334187" w="1280931">
                  <a:moveTo>
                    <a:pt x="27061" y="0"/>
                  </a:moveTo>
                  <a:lnTo>
                    <a:pt x="1253869" y="0"/>
                  </a:lnTo>
                  <a:cubicBezTo>
                    <a:pt x="1261047" y="0"/>
                    <a:pt x="1267930" y="2851"/>
                    <a:pt x="1273005" y="7926"/>
                  </a:cubicBezTo>
                  <a:cubicBezTo>
                    <a:pt x="1278080" y="13001"/>
                    <a:pt x="1280931" y="19884"/>
                    <a:pt x="1280931" y="27061"/>
                  </a:cubicBezTo>
                  <a:lnTo>
                    <a:pt x="1280931" y="307126"/>
                  </a:lnTo>
                  <a:cubicBezTo>
                    <a:pt x="1280931" y="322071"/>
                    <a:pt x="1268815" y="334187"/>
                    <a:pt x="1253869" y="334187"/>
                  </a:cubicBezTo>
                  <a:lnTo>
                    <a:pt x="27061" y="334187"/>
                  </a:lnTo>
                  <a:cubicBezTo>
                    <a:pt x="19884" y="334187"/>
                    <a:pt x="13001" y="331336"/>
                    <a:pt x="7926" y="326261"/>
                  </a:cubicBezTo>
                  <a:cubicBezTo>
                    <a:pt x="2851" y="321186"/>
                    <a:pt x="0" y="314303"/>
                    <a:pt x="0" y="307126"/>
                  </a:cubicBezTo>
                  <a:lnTo>
                    <a:pt x="0" y="27061"/>
                  </a:lnTo>
                  <a:cubicBezTo>
                    <a:pt x="0" y="19884"/>
                    <a:pt x="2851" y="13001"/>
                    <a:pt x="7926" y="7926"/>
                  </a:cubicBezTo>
                  <a:cubicBezTo>
                    <a:pt x="13001" y="2851"/>
                    <a:pt x="19884" y="0"/>
                    <a:pt x="27061" y="0"/>
                  </a:cubicBezTo>
                  <a:close/>
                </a:path>
              </a:pathLst>
            </a:custGeom>
            <a:solidFill>
              <a:srgbClr val="1F406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80931" cy="3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20979" y="6520353"/>
            <a:ext cx="4863533" cy="1268867"/>
            <a:chOff x="0" y="0"/>
            <a:chExt cx="1280931" cy="33418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931" cy="334187"/>
            </a:xfrm>
            <a:custGeom>
              <a:avLst/>
              <a:gdLst/>
              <a:ahLst/>
              <a:cxnLst/>
              <a:rect r="r" b="b" t="t" l="l"/>
              <a:pathLst>
                <a:path h="334187" w="1280931">
                  <a:moveTo>
                    <a:pt x="27061" y="0"/>
                  </a:moveTo>
                  <a:lnTo>
                    <a:pt x="1253869" y="0"/>
                  </a:lnTo>
                  <a:cubicBezTo>
                    <a:pt x="1261047" y="0"/>
                    <a:pt x="1267930" y="2851"/>
                    <a:pt x="1273005" y="7926"/>
                  </a:cubicBezTo>
                  <a:cubicBezTo>
                    <a:pt x="1278080" y="13001"/>
                    <a:pt x="1280931" y="19884"/>
                    <a:pt x="1280931" y="27061"/>
                  </a:cubicBezTo>
                  <a:lnTo>
                    <a:pt x="1280931" y="307126"/>
                  </a:lnTo>
                  <a:cubicBezTo>
                    <a:pt x="1280931" y="322071"/>
                    <a:pt x="1268815" y="334187"/>
                    <a:pt x="1253869" y="334187"/>
                  </a:cubicBezTo>
                  <a:lnTo>
                    <a:pt x="27061" y="334187"/>
                  </a:lnTo>
                  <a:cubicBezTo>
                    <a:pt x="19884" y="334187"/>
                    <a:pt x="13001" y="331336"/>
                    <a:pt x="7926" y="326261"/>
                  </a:cubicBezTo>
                  <a:cubicBezTo>
                    <a:pt x="2851" y="321186"/>
                    <a:pt x="0" y="314303"/>
                    <a:pt x="0" y="307126"/>
                  </a:cubicBezTo>
                  <a:lnTo>
                    <a:pt x="0" y="27061"/>
                  </a:lnTo>
                  <a:cubicBezTo>
                    <a:pt x="0" y="19884"/>
                    <a:pt x="2851" y="13001"/>
                    <a:pt x="7926" y="7926"/>
                  </a:cubicBezTo>
                  <a:cubicBezTo>
                    <a:pt x="13001" y="2851"/>
                    <a:pt x="19884" y="0"/>
                    <a:pt x="27061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80931" cy="3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10033" y="6608239"/>
            <a:ext cx="5259324" cy="53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</a:pPr>
            <a:r>
              <a:rPr lang="en-US" b="true" sz="3151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Train · Jan - Apr 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75060" y="6608239"/>
            <a:ext cx="5259324" cy="53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</a:pPr>
            <a:r>
              <a:rPr lang="en-US" b="true" sz="3151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V</a:t>
            </a:r>
            <a:r>
              <a:rPr lang="en-US" b="true" sz="3151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al · May 2026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50196" y="6608239"/>
            <a:ext cx="5259324" cy="53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</a:pPr>
            <a:r>
              <a:rPr lang="en-US" b="true" sz="3151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Test · June 2026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54554" y="7271146"/>
            <a:ext cx="4863533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718,680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rows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72955" y="7271146"/>
            <a:ext cx="4863533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197,160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rows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88963" y="7271146"/>
            <a:ext cx="4863533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190,800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rows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0033" y="8869047"/>
            <a:ext cx="15241613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i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*And hourly weather (Open-Meteo), NY holidays and the TLC zone lookup.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15888" cy="10287000"/>
          </a:xfrm>
          <a:custGeom>
            <a:avLst/>
            <a:gdLst/>
            <a:ahLst/>
            <a:cxnLst/>
            <a:rect r="r" b="b" t="t" l="l"/>
            <a:pathLst>
              <a:path h="10287000" w="18415888">
                <a:moveTo>
                  <a:pt x="0" y="0"/>
                </a:moveTo>
                <a:lnTo>
                  <a:pt x="18415888" y="0"/>
                </a:lnTo>
                <a:lnTo>
                  <a:pt x="184158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6233" y="648850"/>
            <a:ext cx="6049427" cy="68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</a:pPr>
            <a:r>
              <a:rPr lang="en-US" sz="40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</a:t>
            </a:r>
            <a:r>
              <a:rPr lang="en-US" b="true" sz="402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the pipeline is built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46233" y="1772024"/>
            <a:ext cx="15795535" cy="1009806"/>
            <a:chOff x="0" y="0"/>
            <a:chExt cx="4160141" cy="2659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60141" cy="265957"/>
            </a:xfrm>
            <a:custGeom>
              <a:avLst/>
              <a:gdLst/>
              <a:ahLst/>
              <a:cxnLst/>
              <a:rect r="r" b="b" t="t" l="l"/>
              <a:pathLst>
                <a:path h="265957" w="4160141">
                  <a:moveTo>
                    <a:pt x="8332" y="0"/>
                  </a:moveTo>
                  <a:lnTo>
                    <a:pt x="4151809" y="0"/>
                  </a:lnTo>
                  <a:cubicBezTo>
                    <a:pt x="4156411" y="0"/>
                    <a:pt x="4160141" y="3730"/>
                    <a:pt x="4160141" y="8332"/>
                  </a:cubicBezTo>
                  <a:lnTo>
                    <a:pt x="4160141" y="257625"/>
                  </a:lnTo>
                  <a:cubicBezTo>
                    <a:pt x="4160141" y="262227"/>
                    <a:pt x="4156411" y="265957"/>
                    <a:pt x="4151809" y="265957"/>
                  </a:cubicBezTo>
                  <a:lnTo>
                    <a:pt x="8332" y="265957"/>
                  </a:lnTo>
                  <a:cubicBezTo>
                    <a:pt x="6122" y="265957"/>
                    <a:pt x="4003" y="265079"/>
                    <a:pt x="2440" y="263517"/>
                  </a:cubicBezTo>
                  <a:cubicBezTo>
                    <a:pt x="878" y="261954"/>
                    <a:pt x="0" y="259835"/>
                    <a:pt x="0" y="257625"/>
                  </a:cubicBezTo>
                  <a:lnTo>
                    <a:pt x="0" y="8332"/>
                  </a:lnTo>
                  <a:cubicBezTo>
                    <a:pt x="0" y="6122"/>
                    <a:pt x="878" y="4003"/>
                    <a:pt x="2440" y="2440"/>
                  </a:cubicBezTo>
                  <a:cubicBezTo>
                    <a:pt x="4003" y="878"/>
                    <a:pt x="6122" y="0"/>
                    <a:pt x="8332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60141" cy="30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46233" y="3239170"/>
            <a:ext cx="15795535" cy="1009806"/>
            <a:chOff x="0" y="0"/>
            <a:chExt cx="4160141" cy="2659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60141" cy="265957"/>
            </a:xfrm>
            <a:custGeom>
              <a:avLst/>
              <a:gdLst/>
              <a:ahLst/>
              <a:cxnLst/>
              <a:rect r="r" b="b" t="t" l="l"/>
              <a:pathLst>
                <a:path h="265957" w="4160141">
                  <a:moveTo>
                    <a:pt x="8332" y="0"/>
                  </a:moveTo>
                  <a:lnTo>
                    <a:pt x="4151809" y="0"/>
                  </a:lnTo>
                  <a:cubicBezTo>
                    <a:pt x="4156411" y="0"/>
                    <a:pt x="4160141" y="3730"/>
                    <a:pt x="4160141" y="8332"/>
                  </a:cubicBezTo>
                  <a:lnTo>
                    <a:pt x="4160141" y="257625"/>
                  </a:lnTo>
                  <a:cubicBezTo>
                    <a:pt x="4160141" y="262227"/>
                    <a:pt x="4156411" y="265957"/>
                    <a:pt x="4151809" y="265957"/>
                  </a:cubicBezTo>
                  <a:lnTo>
                    <a:pt x="8332" y="265957"/>
                  </a:lnTo>
                  <a:cubicBezTo>
                    <a:pt x="6122" y="265957"/>
                    <a:pt x="4003" y="265079"/>
                    <a:pt x="2440" y="263517"/>
                  </a:cubicBezTo>
                  <a:cubicBezTo>
                    <a:pt x="878" y="261954"/>
                    <a:pt x="0" y="259835"/>
                    <a:pt x="0" y="257625"/>
                  </a:cubicBezTo>
                  <a:lnTo>
                    <a:pt x="0" y="8332"/>
                  </a:lnTo>
                  <a:cubicBezTo>
                    <a:pt x="0" y="6122"/>
                    <a:pt x="878" y="4003"/>
                    <a:pt x="2440" y="2440"/>
                  </a:cubicBezTo>
                  <a:cubicBezTo>
                    <a:pt x="4003" y="878"/>
                    <a:pt x="6122" y="0"/>
                    <a:pt x="8332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60141" cy="30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6233" y="4706176"/>
            <a:ext cx="15795535" cy="1009806"/>
            <a:chOff x="0" y="0"/>
            <a:chExt cx="4160141" cy="2659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60141" cy="265957"/>
            </a:xfrm>
            <a:custGeom>
              <a:avLst/>
              <a:gdLst/>
              <a:ahLst/>
              <a:cxnLst/>
              <a:rect r="r" b="b" t="t" l="l"/>
              <a:pathLst>
                <a:path h="265957" w="4160141">
                  <a:moveTo>
                    <a:pt x="8332" y="0"/>
                  </a:moveTo>
                  <a:lnTo>
                    <a:pt x="4151809" y="0"/>
                  </a:lnTo>
                  <a:cubicBezTo>
                    <a:pt x="4156411" y="0"/>
                    <a:pt x="4160141" y="3730"/>
                    <a:pt x="4160141" y="8332"/>
                  </a:cubicBezTo>
                  <a:lnTo>
                    <a:pt x="4160141" y="257625"/>
                  </a:lnTo>
                  <a:cubicBezTo>
                    <a:pt x="4160141" y="262227"/>
                    <a:pt x="4156411" y="265957"/>
                    <a:pt x="4151809" y="265957"/>
                  </a:cubicBezTo>
                  <a:lnTo>
                    <a:pt x="8332" y="265957"/>
                  </a:lnTo>
                  <a:cubicBezTo>
                    <a:pt x="6122" y="265957"/>
                    <a:pt x="4003" y="265079"/>
                    <a:pt x="2440" y="263517"/>
                  </a:cubicBezTo>
                  <a:cubicBezTo>
                    <a:pt x="878" y="261954"/>
                    <a:pt x="0" y="259835"/>
                    <a:pt x="0" y="257625"/>
                  </a:cubicBezTo>
                  <a:lnTo>
                    <a:pt x="0" y="8332"/>
                  </a:lnTo>
                  <a:cubicBezTo>
                    <a:pt x="0" y="6122"/>
                    <a:pt x="878" y="4003"/>
                    <a:pt x="2440" y="2440"/>
                  </a:cubicBezTo>
                  <a:cubicBezTo>
                    <a:pt x="4003" y="878"/>
                    <a:pt x="6122" y="0"/>
                    <a:pt x="8332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60141" cy="30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6233" y="6173182"/>
            <a:ext cx="15795535" cy="1009806"/>
            <a:chOff x="0" y="0"/>
            <a:chExt cx="4160141" cy="2659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60141" cy="265957"/>
            </a:xfrm>
            <a:custGeom>
              <a:avLst/>
              <a:gdLst/>
              <a:ahLst/>
              <a:cxnLst/>
              <a:rect r="r" b="b" t="t" l="l"/>
              <a:pathLst>
                <a:path h="265957" w="4160141">
                  <a:moveTo>
                    <a:pt x="8332" y="0"/>
                  </a:moveTo>
                  <a:lnTo>
                    <a:pt x="4151809" y="0"/>
                  </a:lnTo>
                  <a:cubicBezTo>
                    <a:pt x="4156411" y="0"/>
                    <a:pt x="4160141" y="3730"/>
                    <a:pt x="4160141" y="8332"/>
                  </a:cubicBezTo>
                  <a:lnTo>
                    <a:pt x="4160141" y="257625"/>
                  </a:lnTo>
                  <a:cubicBezTo>
                    <a:pt x="4160141" y="262227"/>
                    <a:pt x="4156411" y="265957"/>
                    <a:pt x="4151809" y="265957"/>
                  </a:cubicBezTo>
                  <a:lnTo>
                    <a:pt x="8332" y="265957"/>
                  </a:lnTo>
                  <a:cubicBezTo>
                    <a:pt x="6122" y="265957"/>
                    <a:pt x="4003" y="265079"/>
                    <a:pt x="2440" y="263517"/>
                  </a:cubicBezTo>
                  <a:cubicBezTo>
                    <a:pt x="878" y="261954"/>
                    <a:pt x="0" y="259835"/>
                    <a:pt x="0" y="257625"/>
                  </a:cubicBezTo>
                  <a:lnTo>
                    <a:pt x="0" y="8332"/>
                  </a:lnTo>
                  <a:cubicBezTo>
                    <a:pt x="0" y="6122"/>
                    <a:pt x="878" y="4003"/>
                    <a:pt x="2440" y="2440"/>
                  </a:cubicBezTo>
                  <a:cubicBezTo>
                    <a:pt x="4003" y="878"/>
                    <a:pt x="6122" y="0"/>
                    <a:pt x="8332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160141" cy="30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0177" y="7640329"/>
            <a:ext cx="15795535" cy="1009806"/>
            <a:chOff x="0" y="0"/>
            <a:chExt cx="4160141" cy="2659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60141" cy="265957"/>
            </a:xfrm>
            <a:custGeom>
              <a:avLst/>
              <a:gdLst/>
              <a:ahLst/>
              <a:cxnLst/>
              <a:rect r="r" b="b" t="t" l="l"/>
              <a:pathLst>
                <a:path h="265957" w="4160141">
                  <a:moveTo>
                    <a:pt x="8332" y="0"/>
                  </a:moveTo>
                  <a:lnTo>
                    <a:pt x="4151809" y="0"/>
                  </a:lnTo>
                  <a:cubicBezTo>
                    <a:pt x="4156411" y="0"/>
                    <a:pt x="4160141" y="3730"/>
                    <a:pt x="4160141" y="8332"/>
                  </a:cubicBezTo>
                  <a:lnTo>
                    <a:pt x="4160141" y="257625"/>
                  </a:lnTo>
                  <a:cubicBezTo>
                    <a:pt x="4160141" y="262227"/>
                    <a:pt x="4156411" y="265957"/>
                    <a:pt x="4151809" y="265957"/>
                  </a:cubicBezTo>
                  <a:lnTo>
                    <a:pt x="8332" y="265957"/>
                  </a:lnTo>
                  <a:cubicBezTo>
                    <a:pt x="6122" y="265957"/>
                    <a:pt x="4003" y="265079"/>
                    <a:pt x="2440" y="263517"/>
                  </a:cubicBezTo>
                  <a:cubicBezTo>
                    <a:pt x="878" y="261954"/>
                    <a:pt x="0" y="259835"/>
                    <a:pt x="0" y="257625"/>
                  </a:cubicBezTo>
                  <a:lnTo>
                    <a:pt x="0" y="8332"/>
                  </a:lnTo>
                  <a:cubicBezTo>
                    <a:pt x="0" y="6122"/>
                    <a:pt x="878" y="4003"/>
                    <a:pt x="2440" y="2440"/>
                  </a:cubicBezTo>
                  <a:cubicBezTo>
                    <a:pt x="4003" y="878"/>
                    <a:pt x="6122" y="0"/>
                    <a:pt x="8332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160141" cy="304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94441" y="1705349"/>
            <a:ext cx="148861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Ingest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0261" y="3172495"/>
            <a:ext cx="148861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0261" y="4689546"/>
            <a:ext cx="185039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4441" y="6154132"/>
            <a:ext cx="148861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0261" y="7633522"/>
            <a:ext cx="148861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16815" y="1911802"/>
            <a:ext cx="9132391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Downloa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trips, zones, weather, holidays; validate schema, row counts, 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weather coverage; plan joins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66218" y="3362855"/>
            <a:ext cx="8523536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 rules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(timestamps, duration, distance, fare, zone), each removal 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logged; FHV rows without a zone dropped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36688" y="4887032"/>
            <a:ext cx="8349109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Zone-hour agg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regation, complete 265 × 4,344 grid, joins with row-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count asserts, lags, split by month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99704" y="6277401"/>
            <a:ext cx="8490049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Sklearn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Pipeline per model, 3-fold TimeSeriesSplit, winner chosen 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validation MAE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17067" y="7918954"/>
            <a:ext cx="8021836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Locke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June month, scored once; refuses to run a second time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02293" y="1902277"/>
            <a:ext cx="2895451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interim/*.parquet, 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data_audit.csv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02665" y="3371110"/>
            <a:ext cx="4785335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cleaned_*.parquet, cle</a:t>
            </a: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aning_report.csv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02293" y="4839526"/>
            <a:ext cx="1828800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train, val, 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test.parquet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95447" y="6303436"/>
            <a:ext cx="3047851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demand_model.joblib,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meta</a:t>
            </a: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data, MAE tables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02665" y="7909429"/>
            <a:ext cx="2438251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tes</a:t>
            </a:r>
            <a:r>
              <a:rPr lang="en-US" sz="2000" b="true">
                <a:solidFill>
                  <a:srgbClr val="38B6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t_results.csv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90261" y="2349042"/>
            <a:ext cx="2326554" cy="27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ingest,</a:t>
            </a: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validate, audit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4441" y="3819560"/>
            <a:ext cx="2326554" cy="27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lean.py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90261" y="5336611"/>
            <a:ext cx="2326554" cy="27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features</a:t>
            </a: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.py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0261" y="6801832"/>
            <a:ext cx="2326554" cy="27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train</a:t>
            </a: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.py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94441" y="8185337"/>
            <a:ext cx="2326554" cy="27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evaluate</a:t>
            </a:r>
            <a:r>
              <a:rPr lang="en-US" sz="1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.py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663131"/>
          </a:xfrm>
          <a:custGeom>
            <a:avLst/>
            <a:gdLst/>
            <a:ahLst/>
            <a:cxnLst/>
            <a:rect r="r" b="b" t="t" l="l"/>
            <a:pathLst>
              <a:path h="10663131" w="18288000">
                <a:moveTo>
                  <a:pt x="0" y="0"/>
                </a:moveTo>
                <a:lnTo>
                  <a:pt x="18288000" y="0"/>
                </a:lnTo>
                <a:lnTo>
                  <a:pt x="18288000" y="10663131"/>
                </a:lnTo>
                <a:lnTo>
                  <a:pt x="0" y="10663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2670" y="2138908"/>
            <a:ext cx="17582660" cy="7022075"/>
          </a:xfrm>
          <a:custGeom>
            <a:avLst/>
            <a:gdLst/>
            <a:ahLst/>
            <a:cxnLst/>
            <a:rect r="r" b="b" t="t" l="l"/>
            <a:pathLst>
              <a:path h="7022075" w="17582660">
                <a:moveTo>
                  <a:pt x="0" y="0"/>
                </a:moveTo>
                <a:lnTo>
                  <a:pt x="17582660" y="0"/>
                </a:lnTo>
                <a:lnTo>
                  <a:pt x="17582660" y="7022075"/>
                </a:lnTo>
                <a:lnTo>
                  <a:pt x="0" y="7022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801921"/>
            <a:ext cx="7051662" cy="68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3"/>
              </a:lnSpc>
            </a:pPr>
            <a:r>
              <a:rPr lang="en-US" b="true" sz="4024" i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How the files connect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15562"/>
          </a:xfrm>
          <a:custGeom>
            <a:avLst/>
            <a:gdLst/>
            <a:ahLst/>
            <a:cxnLst/>
            <a:rect r="r" b="b" t="t" l="l"/>
            <a:pathLst>
              <a:path h="10215562" w="18288000">
                <a:moveTo>
                  <a:pt x="0" y="0"/>
                </a:moveTo>
                <a:lnTo>
                  <a:pt x="18288000" y="0"/>
                </a:lnTo>
                <a:lnTo>
                  <a:pt x="18288000" y="10215562"/>
                </a:lnTo>
                <a:lnTo>
                  <a:pt x="0" y="1021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5491" y="648850"/>
            <a:ext cx="6670911" cy="68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</a:pPr>
            <a:r>
              <a:rPr lang="en-US" sz="40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  <a:r>
              <a:rPr lang="en-US" b="true" sz="402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feature decisions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5491" y="1840351"/>
            <a:ext cx="8022044" cy="2812092"/>
            <a:chOff x="0" y="0"/>
            <a:chExt cx="2112802" cy="7406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2802" cy="740633"/>
            </a:xfrm>
            <a:custGeom>
              <a:avLst/>
              <a:gdLst/>
              <a:ahLst/>
              <a:cxnLst/>
              <a:rect r="r" b="b" t="t" l="l"/>
              <a:pathLst>
                <a:path h="740633" w="2112802">
                  <a:moveTo>
                    <a:pt x="16406" y="0"/>
                  </a:moveTo>
                  <a:lnTo>
                    <a:pt x="2096395" y="0"/>
                  </a:lnTo>
                  <a:cubicBezTo>
                    <a:pt x="2105457" y="0"/>
                    <a:pt x="2112802" y="7345"/>
                    <a:pt x="2112802" y="16406"/>
                  </a:cubicBezTo>
                  <a:lnTo>
                    <a:pt x="2112802" y="724227"/>
                  </a:lnTo>
                  <a:cubicBezTo>
                    <a:pt x="2112802" y="733288"/>
                    <a:pt x="2105457" y="740633"/>
                    <a:pt x="2096395" y="740633"/>
                  </a:cubicBezTo>
                  <a:lnTo>
                    <a:pt x="16406" y="740633"/>
                  </a:lnTo>
                  <a:cubicBezTo>
                    <a:pt x="7345" y="740633"/>
                    <a:pt x="0" y="733288"/>
                    <a:pt x="0" y="724227"/>
                  </a:cubicBezTo>
                  <a:lnTo>
                    <a:pt x="0" y="16406"/>
                  </a:lnTo>
                  <a:cubicBezTo>
                    <a:pt x="0" y="7345"/>
                    <a:pt x="7345" y="0"/>
                    <a:pt x="16406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12802" cy="778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5491" y="5343135"/>
            <a:ext cx="8022044" cy="2812092"/>
            <a:chOff x="0" y="0"/>
            <a:chExt cx="2112802" cy="7406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12802" cy="740633"/>
            </a:xfrm>
            <a:custGeom>
              <a:avLst/>
              <a:gdLst/>
              <a:ahLst/>
              <a:cxnLst/>
              <a:rect r="r" b="b" t="t" l="l"/>
              <a:pathLst>
                <a:path h="740633" w="2112802">
                  <a:moveTo>
                    <a:pt x="16406" y="0"/>
                  </a:moveTo>
                  <a:lnTo>
                    <a:pt x="2096395" y="0"/>
                  </a:lnTo>
                  <a:cubicBezTo>
                    <a:pt x="2105457" y="0"/>
                    <a:pt x="2112802" y="7345"/>
                    <a:pt x="2112802" y="16406"/>
                  </a:cubicBezTo>
                  <a:lnTo>
                    <a:pt x="2112802" y="724227"/>
                  </a:lnTo>
                  <a:cubicBezTo>
                    <a:pt x="2112802" y="733288"/>
                    <a:pt x="2105457" y="740633"/>
                    <a:pt x="2096395" y="740633"/>
                  </a:cubicBezTo>
                  <a:lnTo>
                    <a:pt x="16406" y="740633"/>
                  </a:lnTo>
                  <a:cubicBezTo>
                    <a:pt x="7345" y="740633"/>
                    <a:pt x="0" y="733288"/>
                    <a:pt x="0" y="724227"/>
                  </a:cubicBezTo>
                  <a:lnTo>
                    <a:pt x="0" y="16406"/>
                  </a:lnTo>
                  <a:cubicBezTo>
                    <a:pt x="0" y="7345"/>
                    <a:pt x="7345" y="0"/>
                    <a:pt x="16406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12802" cy="778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55984" y="1840351"/>
            <a:ext cx="8022044" cy="2812092"/>
            <a:chOff x="0" y="0"/>
            <a:chExt cx="2112802" cy="7406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12802" cy="740633"/>
            </a:xfrm>
            <a:custGeom>
              <a:avLst/>
              <a:gdLst/>
              <a:ahLst/>
              <a:cxnLst/>
              <a:rect r="r" b="b" t="t" l="l"/>
              <a:pathLst>
                <a:path h="740633" w="2112802">
                  <a:moveTo>
                    <a:pt x="16406" y="0"/>
                  </a:moveTo>
                  <a:lnTo>
                    <a:pt x="2096395" y="0"/>
                  </a:lnTo>
                  <a:cubicBezTo>
                    <a:pt x="2105457" y="0"/>
                    <a:pt x="2112802" y="7345"/>
                    <a:pt x="2112802" y="16406"/>
                  </a:cubicBezTo>
                  <a:lnTo>
                    <a:pt x="2112802" y="724227"/>
                  </a:lnTo>
                  <a:cubicBezTo>
                    <a:pt x="2112802" y="733288"/>
                    <a:pt x="2105457" y="740633"/>
                    <a:pt x="2096395" y="740633"/>
                  </a:cubicBezTo>
                  <a:lnTo>
                    <a:pt x="16406" y="740633"/>
                  </a:lnTo>
                  <a:cubicBezTo>
                    <a:pt x="7345" y="740633"/>
                    <a:pt x="0" y="733288"/>
                    <a:pt x="0" y="724227"/>
                  </a:cubicBezTo>
                  <a:lnTo>
                    <a:pt x="0" y="16406"/>
                  </a:lnTo>
                  <a:cubicBezTo>
                    <a:pt x="0" y="7345"/>
                    <a:pt x="7345" y="0"/>
                    <a:pt x="16406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12802" cy="778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55984" y="5343135"/>
            <a:ext cx="8022044" cy="2812092"/>
            <a:chOff x="0" y="0"/>
            <a:chExt cx="2112802" cy="7406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12802" cy="740633"/>
            </a:xfrm>
            <a:custGeom>
              <a:avLst/>
              <a:gdLst/>
              <a:ahLst/>
              <a:cxnLst/>
              <a:rect r="r" b="b" t="t" l="l"/>
              <a:pathLst>
                <a:path h="740633" w="2112802">
                  <a:moveTo>
                    <a:pt x="16406" y="0"/>
                  </a:moveTo>
                  <a:lnTo>
                    <a:pt x="2096395" y="0"/>
                  </a:lnTo>
                  <a:cubicBezTo>
                    <a:pt x="2105457" y="0"/>
                    <a:pt x="2112802" y="7345"/>
                    <a:pt x="2112802" y="16406"/>
                  </a:cubicBezTo>
                  <a:lnTo>
                    <a:pt x="2112802" y="724227"/>
                  </a:lnTo>
                  <a:cubicBezTo>
                    <a:pt x="2112802" y="733288"/>
                    <a:pt x="2105457" y="740633"/>
                    <a:pt x="2096395" y="740633"/>
                  </a:cubicBezTo>
                  <a:lnTo>
                    <a:pt x="16406" y="740633"/>
                  </a:lnTo>
                  <a:cubicBezTo>
                    <a:pt x="7345" y="740633"/>
                    <a:pt x="0" y="733288"/>
                    <a:pt x="0" y="724227"/>
                  </a:cubicBezTo>
                  <a:lnTo>
                    <a:pt x="0" y="16406"/>
                  </a:lnTo>
                  <a:cubicBezTo>
                    <a:pt x="0" y="7345"/>
                    <a:pt x="7345" y="0"/>
                    <a:pt x="16406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12802" cy="778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7898" y="1975276"/>
            <a:ext cx="4035293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</a:t>
            </a:r>
            <a:r>
              <a:rPr lang="en-US" b="true" sz="24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zone-hour grid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84014" y="1975276"/>
            <a:ext cx="6095857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Weather joine</a:t>
            </a:r>
            <a:r>
              <a:rPr lang="en-US" b="true" sz="24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after aggregationc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2897" y="5540977"/>
            <a:ext cx="4758850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Lags use only</a:t>
            </a:r>
            <a:r>
              <a:rPr lang="en-US" b="true" sz="24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the past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84014" y="5540977"/>
            <a:ext cx="4947604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Split by</a:t>
            </a:r>
            <a:r>
              <a:rPr lang="en-US" b="true" sz="24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month, not randomly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897" y="2626962"/>
            <a:ext cx="7401406" cy="123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plain groupby drops hours with zero trips and overstates demand, so every zone × hour exists, with 0 where nothing happened.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66303" y="2626962"/>
            <a:ext cx="7401406" cy="123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per-trip join repeats hourly values millions of times. Every join asserts that the row count did not change.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897" y="6189946"/>
            <a:ext cx="7401406" cy="123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lag_1, lag_24, lag_168 an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a rolling mean shifted by one hour. No leakage; the first week is dropped (44,520 rows).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66303" y="6189946"/>
            <a:ext cx="7401406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Train Jan -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Apr, validate May, test June. A random split would leak future demand into training.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690" y="9229725"/>
            <a:ext cx="17367338" cy="29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</a:t>
            </a:r>
            <a:r>
              <a:rPr lang="en-US" b="true" sz="1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ality checks: 12 cleaning rules; 84–92% of FHV rows have no pickup zone and are dropped.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663131"/>
          </a:xfrm>
          <a:custGeom>
            <a:avLst/>
            <a:gdLst/>
            <a:ahLst/>
            <a:cxnLst/>
            <a:rect r="r" b="b" t="t" l="l"/>
            <a:pathLst>
              <a:path h="10663131" w="18288000">
                <a:moveTo>
                  <a:pt x="0" y="0"/>
                </a:moveTo>
                <a:lnTo>
                  <a:pt x="18288000" y="0"/>
                </a:lnTo>
                <a:lnTo>
                  <a:pt x="18288000" y="10663131"/>
                </a:lnTo>
                <a:lnTo>
                  <a:pt x="0" y="10663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5942" y="850169"/>
            <a:ext cx="7051662" cy="68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3"/>
              </a:lnSpc>
            </a:pPr>
            <a:r>
              <a:rPr lang="en-US" b="true" sz="4024" i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Why gradient boosting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9766" y="2829330"/>
            <a:ext cx="8465589" cy="1245749"/>
            <a:chOff x="0" y="0"/>
            <a:chExt cx="2229620" cy="3280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9620" cy="328098"/>
            </a:xfrm>
            <a:custGeom>
              <a:avLst/>
              <a:gdLst/>
              <a:ahLst/>
              <a:cxnLst/>
              <a:rect r="r" b="b" t="t" l="l"/>
              <a:pathLst>
                <a:path h="328098" w="2229620">
                  <a:moveTo>
                    <a:pt x="15547" y="0"/>
                  </a:moveTo>
                  <a:lnTo>
                    <a:pt x="2214073" y="0"/>
                  </a:lnTo>
                  <a:cubicBezTo>
                    <a:pt x="2218197" y="0"/>
                    <a:pt x="2222151" y="1638"/>
                    <a:pt x="2225067" y="4554"/>
                  </a:cubicBezTo>
                  <a:cubicBezTo>
                    <a:pt x="2227982" y="7469"/>
                    <a:pt x="2229620" y="11424"/>
                    <a:pt x="2229620" y="15547"/>
                  </a:cubicBezTo>
                  <a:lnTo>
                    <a:pt x="2229620" y="312552"/>
                  </a:lnTo>
                  <a:cubicBezTo>
                    <a:pt x="2229620" y="321138"/>
                    <a:pt x="2222660" y="328098"/>
                    <a:pt x="2214073" y="328098"/>
                  </a:cubicBezTo>
                  <a:lnTo>
                    <a:pt x="15547" y="328098"/>
                  </a:lnTo>
                  <a:cubicBezTo>
                    <a:pt x="6961" y="328098"/>
                    <a:pt x="0" y="321138"/>
                    <a:pt x="0" y="312552"/>
                  </a:cubicBezTo>
                  <a:lnTo>
                    <a:pt x="0" y="15547"/>
                  </a:lnTo>
                  <a:cubicBezTo>
                    <a:pt x="0" y="6961"/>
                    <a:pt x="6961" y="0"/>
                    <a:pt x="15547" y="0"/>
                  </a:cubicBezTo>
                  <a:close/>
                </a:path>
              </a:pathLst>
            </a:custGeom>
            <a:solidFill>
              <a:srgbClr val="E2E6E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29620" cy="366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4036" y="4446553"/>
            <a:ext cx="8465589" cy="1245749"/>
            <a:chOff x="0" y="0"/>
            <a:chExt cx="2229620" cy="3280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9620" cy="328098"/>
            </a:xfrm>
            <a:custGeom>
              <a:avLst/>
              <a:gdLst/>
              <a:ahLst/>
              <a:cxnLst/>
              <a:rect r="r" b="b" t="t" l="l"/>
              <a:pathLst>
                <a:path h="328098" w="2229620">
                  <a:moveTo>
                    <a:pt x="15547" y="0"/>
                  </a:moveTo>
                  <a:lnTo>
                    <a:pt x="2214073" y="0"/>
                  </a:lnTo>
                  <a:cubicBezTo>
                    <a:pt x="2218197" y="0"/>
                    <a:pt x="2222151" y="1638"/>
                    <a:pt x="2225067" y="4554"/>
                  </a:cubicBezTo>
                  <a:cubicBezTo>
                    <a:pt x="2227982" y="7469"/>
                    <a:pt x="2229620" y="11424"/>
                    <a:pt x="2229620" y="15547"/>
                  </a:cubicBezTo>
                  <a:lnTo>
                    <a:pt x="2229620" y="312552"/>
                  </a:lnTo>
                  <a:cubicBezTo>
                    <a:pt x="2229620" y="321138"/>
                    <a:pt x="2222660" y="328098"/>
                    <a:pt x="2214073" y="328098"/>
                  </a:cubicBezTo>
                  <a:lnTo>
                    <a:pt x="15547" y="328098"/>
                  </a:lnTo>
                  <a:cubicBezTo>
                    <a:pt x="6961" y="328098"/>
                    <a:pt x="0" y="321138"/>
                    <a:pt x="0" y="312552"/>
                  </a:cubicBezTo>
                  <a:lnTo>
                    <a:pt x="0" y="15547"/>
                  </a:lnTo>
                  <a:cubicBezTo>
                    <a:pt x="0" y="6961"/>
                    <a:pt x="6961" y="0"/>
                    <a:pt x="15547" y="0"/>
                  </a:cubicBezTo>
                  <a:close/>
                </a:path>
              </a:pathLst>
            </a:custGeom>
            <a:solidFill>
              <a:srgbClr val="CFD5D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29620" cy="366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9766" y="6059318"/>
            <a:ext cx="8465589" cy="1245749"/>
            <a:chOff x="0" y="0"/>
            <a:chExt cx="2229620" cy="328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9620" cy="328098"/>
            </a:xfrm>
            <a:custGeom>
              <a:avLst/>
              <a:gdLst/>
              <a:ahLst/>
              <a:cxnLst/>
              <a:rect r="r" b="b" t="t" l="l"/>
              <a:pathLst>
                <a:path h="328098" w="2229620">
                  <a:moveTo>
                    <a:pt x="15547" y="0"/>
                  </a:moveTo>
                  <a:lnTo>
                    <a:pt x="2214073" y="0"/>
                  </a:lnTo>
                  <a:cubicBezTo>
                    <a:pt x="2218197" y="0"/>
                    <a:pt x="2222151" y="1638"/>
                    <a:pt x="2225067" y="4554"/>
                  </a:cubicBezTo>
                  <a:cubicBezTo>
                    <a:pt x="2227982" y="7469"/>
                    <a:pt x="2229620" y="11424"/>
                    <a:pt x="2229620" y="15547"/>
                  </a:cubicBezTo>
                  <a:lnTo>
                    <a:pt x="2229620" y="312552"/>
                  </a:lnTo>
                  <a:cubicBezTo>
                    <a:pt x="2229620" y="321138"/>
                    <a:pt x="2222660" y="328098"/>
                    <a:pt x="2214073" y="328098"/>
                  </a:cubicBezTo>
                  <a:lnTo>
                    <a:pt x="15547" y="328098"/>
                  </a:lnTo>
                  <a:cubicBezTo>
                    <a:pt x="6961" y="328098"/>
                    <a:pt x="0" y="321138"/>
                    <a:pt x="0" y="312552"/>
                  </a:cubicBezTo>
                  <a:lnTo>
                    <a:pt x="0" y="15547"/>
                  </a:lnTo>
                  <a:cubicBezTo>
                    <a:pt x="0" y="6961"/>
                    <a:pt x="6961" y="0"/>
                    <a:pt x="15547" y="0"/>
                  </a:cubicBezTo>
                  <a:close/>
                </a:path>
              </a:pathLst>
            </a:custGeom>
            <a:solidFill>
              <a:srgbClr val="1F406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29620" cy="366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74356" y="2281479"/>
            <a:ext cx="1135642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F4061"/>
                </a:solidFill>
                <a:latin typeface="Canva Sans"/>
                <a:ea typeface="Canva Sans"/>
                <a:cs typeface="Canva Sans"/>
                <a:sym typeface="Canva Sans"/>
              </a:rPr>
              <a:t>Model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19769" y="2281479"/>
            <a:ext cx="1135642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F4061"/>
                </a:solidFill>
                <a:latin typeface="Canva Sans"/>
                <a:ea typeface="Canva Sans"/>
                <a:cs typeface="Canva Sans"/>
                <a:sym typeface="Canva Sans"/>
              </a:rPr>
              <a:t>CV MAE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8449" y="2281479"/>
            <a:ext cx="1371585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F4061"/>
                </a:solidFill>
                <a:latin typeface="Canva Sans"/>
                <a:ea typeface="Canva Sans"/>
                <a:cs typeface="Canva Sans"/>
                <a:sym typeface="Canva Sans"/>
              </a:rPr>
              <a:t>Val MAE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4356" y="3182964"/>
            <a:ext cx="17962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F4061"/>
                </a:solidFill>
                <a:latin typeface="Canva Sans"/>
                <a:ea typeface="Canva Sans"/>
                <a:cs typeface="Canva Sans"/>
                <a:sym typeface="Canva Sans"/>
              </a:rPr>
              <a:t>Baseline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4356" y="4797958"/>
            <a:ext cx="17962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F4061"/>
                </a:solidFill>
                <a:latin typeface="Canva Sans"/>
                <a:ea typeface="Canva Sans"/>
                <a:cs typeface="Canva Sans"/>
                <a:sym typeface="Canva Sans"/>
              </a:rPr>
              <a:t>Ridge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2272" y="6428931"/>
            <a:ext cx="407705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ist Gradient Boosting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81893" y="3182964"/>
            <a:ext cx="17962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F4061"/>
                </a:solidFill>
                <a:latin typeface="Canva Sans"/>
                <a:ea typeface="Canva Sans"/>
                <a:cs typeface="Canva Sans"/>
                <a:sym typeface="Canva Sans"/>
              </a:rPr>
              <a:t>5.10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81893" y="4800188"/>
            <a:ext cx="17962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F4061"/>
                </a:solidFill>
                <a:latin typeface="Canva Sans"/>
                <a:ea typeface="Canva Sans"/>
                <a:cs typeface="Canva Sans"/>
                <a:sym typeface="Canva Sans"/>
              </a:rPr>
              <a:t>4.02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52150" y="4800188"/>
            <a:ext cx="232974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F4061"/>
                </a:solidFill>
                <a:latin typeface="Canva Sans"/>
                <a:ea typeface="Canva Sans"/>
                <a:cs typeface="Canva Sans"/>
                <a:sym typeface="Canva Sans"/>
              </a:rPr>
              <a:t>4.21 ± 0.33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52150" y="6428931"/>
            <a:ext cx="232974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3.61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± 0.14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81893" y="6428931"/>
            <a:ext cx="17962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3.66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2941" y="2772180"/>
            <a:ext cx="7775219" cy="464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b="true" sz="2724" i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More stable: </a:t>
            </a:r>
            <a:r>
              <a:rPr lang="en-US" sz="2724" i="true">
                <a:solidFill>
                  <a:srgbClr val="1F406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fold-to-fold std 0.14 versus 0.33.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82941" y="3854021"/>
            <a:ext cx="7948244" cy="141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4" i="true" b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Fits the shape of the data:</a:t>
            </a:r>
            <a:r>
              <a:rPr lang="en-US" sz="2724" i="true">
                <a:solidFill>
                  <a:srgbClr val="1F406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trees capture hour × zone effects that a linear model needs hand-made interactions for.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78174" y="5888363"/>
            <a:ext cx="7948244" cy="141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4" i="true" b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Honest selection: </a:t>
            </a:r>
            <a:r>
              <a:rPr lang="en-US" sz="2724" i="true">
                <a:solidFill>
                  <a:srgbClr val="1F406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chosen on validation; </a:t>
            </a:r>
          </a:p>
          <a:p>
            <a:pPr algn="l">
              <a:lnSpc>
                <a:spcPts val="3813"/>
              </a:lnSpc>
            </a:pPr>
            <a:r>
              <a:rPr lang="en-US" sz="2724" i="true">
                <a:solidFill>
                  <a:srgbClr val="1F406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the test month was never used for any decision.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1565"/>
            <a:ext cx="18415888" cy="10287000"/>
          </a:xfrm>
          <a:custGeom>
            <a:avLst/>
            <a:gdLst/>
            <a:ahLst/>
            <a:cxnLst/>
            <a:rect r="r" b="b" t="t" l="l"/>
            <a:pathLst>
              <a:path h="10287000" w="18415888">
                <a:moveTo>
                  <a:pt x="0" y="0"/>
                </a:moveTo>
                <a:lnTo>
                  <a:pt x="18415888" y="0"/>
                </a:lnTo>
                <a:lnTo>
                  <a:pt x="184158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25573"/>
            <a:ext cx="12195812" cy="6097906"/>
          </a:xfrm>
          <a:custGeom>
            <a:avLst/>
            <a:gdLst/>
            <a:ahLst/>
            <a:cxnLst/>
            <a:rect r="r" b="b" t="t" l="l"/>
            <a:pathLst>
              <a:path h="6097906" w="12195812">
                <a:moveTo>
                  <a:pt x="0" y="0"/>
                </a:moveTo>
                <a:lnTo>
                  <a:pt x="12195812" y="0"/>
                </a:lnTo>
                <a:lnTo>
                  <a:pt x="12195812" y="6097906"/>
                </a:lnTo>
                <a:lnTo>
                  <a:pt x="0" y="6097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48850"/>
            <a:ext cx="5438731" cy="68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</a:pPr>
            <a:r>
              <a:rPr lang="en-US" sz="40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</a:t>
            </a:r>
            <a:r>
              <a:rPr lang="en-US" b="true" sz="402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it fails: by hour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53702" y="2092159"/>
            <a:ext cx="4271235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Best at night: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MAE 1.5 at 03:00.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37973" y="3204058"/>
            <a:ext cx="4271235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Worst in the evening: 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5.5 at 22:00.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53702" y="4836426"/>
            <a:ext cx="4271235" cy="291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Error follows volume: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grey bars are trips per hour, and they rise with MAE.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Likely cause: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busier hours are larger and noisier, and MAE is absolute.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203" y="-130457"/>
            <a:ext cx="18369203" cy="10710478"/>
          </a:xfrm>
          <a:custGeom>
            <a:avLst/>
            <a:gdLst/>
            <a:ahLst/>
            <a:cxnLst/>
            <a:rect r="r" b="b" t="t" l="l"/>
            <a:pathLst>
              <a:path h="10710478" w="18369203">
                <a:moveTo>
                  <a:pt x="0" y="0"/>
                </a:moveTo>
                <a:lnTo>
                  <a:pt x="18369203" y="0"/>
                </a:lnTo>
                <a:lnTo>
                  <a:pt x="18369203" y="10710478"/>
                </a:lnTo>
                <a:lnTo>
                  <a:pt x="0" y="10710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98776" y="1985145"/>
            <a:ext cx="8795423" cy="4397711"/>
          </a:xfrm>
          <a:custGeom>
            <a:avLst/>
            <a:gdLst/>
            <a:ahLst/>
            <a:cxnLst/>
            <a:rect r="r" b="b" t="t" l="l"/>
            <a:pathLst>
              <a:path h="4397711" w="8795423">
                <a:moveTo>
                  <a:pt x="0" y="0"/>
                </a:moveTo>
                <a:lnTo>
                  <a:pt x="8795423" y="0"/>
                </a:lnTo>
                <a:lnTo>
                  <a:pt x="8795423" y="4397711"/>
                </a:lnTo>
                <a:lnTo>
                  <a:pt x="0" y="4397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1171" y="1985145"/>
            <a:ext cx="6156796" cy="4397711"/>
          </a:xfrm>
          <a:custGeom>
            <a:avLst/>
            <a:gdLst/>
            <a:ahLst/>
            <a:cxnLst/>
            <a:rect r="r" b="b" t="t" l="l"/>
            <a:pathLst>
              <a:path h="4397711" w="6156796">
                <a:moveTo>
                  <a:pt x="0" y="0"/>
                </a:moveTo>
                <a:lnTo>
                  <a:pt x="6156796" y="0"/>
                </a:lnTo>
                <a:lnTo>
                  <a:pt x="6156796" y="4397711"/>
                </a:lnTo>
                <a:lnTo>
                  <a:pt x="0" y="4397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5942" y="456931"/>
            <a:ext cx="10449234" cy="68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3"/>
              </a:lnSpc>
            </a:pPr>
            <a:r>
              <a:rPr lang="en-US" b="true" sz="4024" i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Where it fails: borough and weather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5548" y="7047109"/>
            <a:ext cx="7193228" cy="87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4" i="true" b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Rain 4.2 VS Dry 3.6. </a:t>
            </a:r>
          </a:p>
          <a:p>
            <a:pPr algn="l">
              <a:lnSpc>
                <a:spcPts val="3253"/>
              </a:lnSpc>
            </a:pPr>
            <a:r>
              <a:rPr lang="en-US" sz="2324" i="true">
                <a:solidFill>
                  <a:srgbClr val="1F406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*</a:t>
            </a:r>
            <a:r>
              <a:rPr lang="en-US" sz="2324" i="true">
                <a:solidFill>
                  <a:srgbClr val="1F406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No snow bar: validation has no snowfall.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7047109"/>
            <a:ext cx="7948244" cy="141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4" i="true" b="true">
                <a:solidFill>
                  <a:srgbClr val="1F406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Manhattan MAE more than 10, </a:t>
            </a:r>
            <a:r>
              <a:rPr lang="en-US" sz="2724" i="true">
                <a:solidFill>
                  <a:srgbClr val="1F4061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every other borough under 2. Absolute MAE tracks demand volume.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15888" cy="10287000"/>
          </a:xfrm>
          <a:custGeom>
            <a:avLst/>
            <a:gdLst/>
            <a:ahLst/>
            <a:cxnLst/>
            <a:rect r="r" b="b" t="t" l="l"/>
            <a:pathLst>
              <a:path h="10287000" w="18415888">
                <a:moveTo>
                  <a:pt x="0" y="0"/>
                </a:moveTo>
                <a:lnTo>
                  <a:pt x="18415888" y="0"/>
                </a:lnTo>
                <a:lnTo>
                  <a:pt x="184158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04962" y="648850"/>
            <a:ext cx="5286207" cy="68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</a:pPr>
            <a:r>
              <a:rPr lang="en-US" sz="40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</a:t>
            </a:r>
            <a:r>
              <a:rPr lang="en-US" b="true" sz="402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its and next steps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75888" y="2768392"/>
            <a:ext cx="7581618" cy="4904115"/>
            <a:chOff x="0" y="0"/>
            <a:chExt cx="1996805" cy="1291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805" cy="1291619"/>
            </a:xfrm>
            <a:custGeom>
              <a:avLst/>
              <a:gdLst/>
              <a:ahLst/>
              <a:cxnLst/>
              <a:rect r="r" b="b" t="t" l="l"/>
              <a:pathLst>
                <a:path h="1291619" w="1996805">
                  <a:moveTo>
                    <a:pt x="17359" y="0"/>
                  </a:moveTo>
                  <a:lnTo>
                    <a:pt x="1979445" y="0"/>
                  </a:lnTo>
                  <a:cubicBezTo>
                    <a:pt x="1984049" y="0"/>
                    <a:pt x="1988465" y="1829"/>
                    <a:pt x="1991720" y="5084"/>
                  </a:cubicBezTo>
                  <a:cubicBezTo>
                    <a:pt x="1994976" y="8340"/>
                    <a:pt x="1996805" y="12755"/>
                    <a:pt x="1996805" y="17359"/>
                  </a:cubicBezTo>
                  <a:lnTo>
                    <a:pt x="1996805" y="1274259"/>
                  </a:lnTo>
                  <a:cubicBezTo>
                    <a:pt x="1996805" y="1278863"/>
                    <a:pt x="1994976" y="1283279"/>
                    <a:pt x="1991720" y="1286534"/>
                  </a:cubicBezTo>
                  <a:cubicBezTo>
                    <a:pt x="1988465" y="1289790"/>
                    <a:pt x="1984049" y="1291619"/>
                    <a:pt x="1979445" y="1291619"/>
                  </a:cubicBezTo>
                  <a:lnTo>
                    <a:pt x="17359" y="1291619"/>
                  </a:lnTo>
                  <a:cubicBezTo>
                    <a:pt x="7772" y="1291619"/>
                    <a:pt x="0" y="1283847"/>
                    <a:pt x="0" y="1274259"/>
                  </a:cubicBezTo>
                  <a:lnTo>
                    <a:pt x="0" y="17359"/>
                  </a:lnTo>
                  <a:cubicBezTo>
                    <a:pt x="0" y="12755"/>
                    <a:pt x="1829" y="8340"/>
                    <a:pt x="5084" y="5084"/>
                  </a:cubicBezTo>
                  <a:cubicBezTo>
                    <a:pt x="8340" y="1829"/>
                    <a:pt x="12755" y="0"/>
                    <a:pt x="17359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96805" cy="1329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56329" y="2691443"/>
            <a:ext cx="7502971" cy="4904115"/>
            <a:chOff x="0" y="0"/>
            <a:chExt cx="1976091" cy="1291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6091" cy="1291619"/>
            </a:xfrm>
            <a:custGeom>
              <a:avLst/>
              <a:gdLst/>
              <a:ahLst/>
              <a:cxnLst/>
              <a:rect r="r" b="b" t="t" l="l"/>
              <a:pathLst>
                <a:path h="1291619" w="1976091">
                  <a:moveTo>
                    <a:pt x="17541" y="0"/>
                  </a:moveTo>
                  <a:lnTo>
                    <a:pt x="1958550" y="0"/>
                  </a:lnTo>
                  <a:cubicBezTo>
                    <a:pt x="1968238" y="0"/>
                    <a:pt x="1976091" y="7854"/>
                    <a:pt x="1976091" y="17541"/>
                  </a:cubicBezTo>
                  <a:lnTo>
                    <a:pt x="1976091" y="1274077"/>
                  </a:lnTo>
                  <a:cubicBezTo>
                    <a:pt x="1976091" y="1283765"/>
                    <a:pt x="1968238" y="1291619"/>
                    <a:pt x="1958550" y="1291619"/>
                  </a:cubicBezTo>
                  <a:lnTo>
                    <a:pt x="17541" y="1291619"/>
                  </a:lnTo>
                  <a:cubicBezTo>
                    <a:pt x="7854" y="1291619"/>
                    <a:pt x="0" y="1283765"/>
                    <a:pt x="0" y="1274077"/>
                  </a:cubicBezTo>
                  <a:lnTo>
                    <a:pt x="0" y="17541"/>
                  </a:lnTo>
                  <a:cubicBezTo>
                    <a:pt x="0" y="7854"/>
                    <a:pt x="7854" y="0"/>
                    <a:pt x="17541" y="0"/>
                  </a:cubicBezTo>
                  <a:close/>
                </a:path>
              </a:pathLst>
            </a:custGeom>
            <a:solidFill>
              <a:srgbClr val="294C6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76091" cy="1329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53340" y="2962914"/>
            <a:ext cx="4035293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86556" y="2962914"/>
            <a:ext cx="4035293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next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62" y="3954551"/>
            <a:ext cx="7401406" cy="291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ix months of data, one test month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snow in validation, so snow error is unknown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Observed weather, one point for the city; real use needs forecasts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Most FHV trips lack a pickup zone</a:t>
            </a: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857894" y="3846143"/>
            <a:ext cx="7401406" cy="291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Reuse: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validation, logging, train and evaluate structure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Change: config, cleaning rules, features and target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Next: more months, the holiday flag, weather forecasts</a:t>
            </a:r>
          </a:p>
          <a:p>
            <a:pPr algn="l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118591" cy="10564354"/>
          </a:xfrm>
          <a:custGeom>
            <a:avLst/>
            <a:gdLst/>
            <a:ahLst/>
            <a:cxnLst/>
            <a:rect r="r" b="b" t="t" l="l"/>
            <a:pathLst>
              <a:path h="10564354" w="18118591">
                <a:moveTo>
                  <a:pt x="0" y="0"/>
                </a:moveTo>
                <a:lnTo>
                  <a:pt x="18118591" y="0"/>
                </a:lnTo>
                <a:lnTo>
                  <a:pt x="18118591" y="10564354"/>
                </a:lnTo>
                <a:lnTo>
                  <a:pt x="0" y="10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23596" y="3874478"/>
            <a:ext cx="11671399" cy="1606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6"/>
              </a:lnSpc>
              <a:spcBef>
                <a:spcPct val="0"/>
              </a:spcBef>
            </a:pPr>
            <a:r>
              <a:rPr lang="en-US" b="true" sz="4640">
                <a:solidFill>
                  <a:srgbClr val="294C6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for your attention! </a:t>
            </a:r>
          </a:p>
          <a:p>
            <a:pPr algn="ctr">
              <a:lnSpc>
                <a:spcPts val="6496"/>
              </a:lnSpc>
              <a:spcBef>
                <a:spcPct val="0"/>
              </a:spcBef>
            </a:pPr>
            <a:r>
              <a:rPr lang="en-US" b="true" sz="4640">
                <a:solidFill>
                  <a:srgbClr val="294C6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 will be happy to answer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DAHXgJwml7o</dc:identifier>
  <dcterms:modified xsi:type="dcterms:W3CDTF">2011-08-01T06:04:30Z</dcterms:modified>
  <cp:revision>1</cp:revision>
  <dc:title>Forecasting NYC taxi demand</dc:title>
</cp:coreProperties>
</file>